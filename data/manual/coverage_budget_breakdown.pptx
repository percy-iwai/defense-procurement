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468000"/>
          </a:xfrm>
          <a:prstGeom prst="rect">
            <a:avLst/>
          </a:prstGeom>
          <a:solidFill>
            <a:srgbClr val="1F3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FY2024 物件費（契約ベース）の構造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648000"/>
            <a:ext cx="2700000" cy="503999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歳出予算
77,249億円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1188000"/>
            <a:ext cx="27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（R6に支払う額）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475999"/>
            <a:ext cx="2448000" cy="378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F3664"/>
                </a:solidFill>
                <a:latin typeface="Arial"/>
              </a:rPr>
              <a:t>人件・糧食費
22,290億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" y="1871999"/>
            <a:ext cx="2448000" cy="378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F3664"/>
                </a:solidFill>
                <a:latin typeface="Arial"/>
              </a:rPr>
              <a:t>歳出化経費
37,928億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2267999"/>
            <a:ext cx="2448000" cy="378000"/>
          </a:xfrm>
          <a:prstGeom prst="rect">
            <a:avLst/>
          </a:prstGeom>
          <a:solidFill>
            <a:srgbClr val="BDD7EE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F3664"/>
                </a:solidFill>
                <a:latin typeface="Arial"/>
              </a:rPr>
              <a:t>一般物件費
17,032億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2663999"/>
            <a:ext cx="2448000" cy="378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(SACO等)
2,861億+α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" y="3114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※歳出化経費＝過去契約のR6支払分
　（R6新規契約には含まず）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6000" y="2052000"/>
            <a:ext cx="9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3664"/>
                </a:solidFill>
                <a:latin typeface="Arial"/>
              </a:rPr>
              <a:t>一般物件費
は共通 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0000" y="648000"/>
            <a:ext cx="3420000" cy="503999"/>
          </a:xfrm>
          <a:prstGeom prst="rect">
            <a:avLst/>
          </a:prstGeom>
          <a:solidFill>
            <a:srgbClr val="1F3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物件費（契約ベース）
93,625億円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0000" y="1188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（R6に締結する契約額）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8000" y="1475999"/>
            <a:ext cx="3168000" cy="503999"/>
          </a:xfrm>
          <a:prstGeom prst="rect">
            <a:avLst/>
          </a:prstGeom>
          <a:solidFill>
            <a:srgbClr val="BDD7EE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3664"/>
                </a:solidFill>
                <a:latin typeface="Arial"/>
              </a:rPr>
              <a:t>一般物件費（活動経費）
17,032億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8000" y="1998000"/>
            <a:ext cx="31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単年契約・R6に締結しR6に支払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8000" y="2231999"/>
            <a:ext cx="3168000" cy="503999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3664"/>
                </a:solidFill>
                <a:latin typeface="Arial"/>
              </a:rPr>
              <a:t>新規後年度負担
76,594億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8000" y="2754000"/>
            <a:ext cx="31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R6に締結・R7以降に支払（多年度契約）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" y="6012000"/>
            <a:ext cx="11844000" cy="648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【注1】SACO/米軍再編 地元負担軽減分は93,625から除外済
【注2】公表DB（財計第2017号）= 契約締結日ベース → 93,625と直接比較が正
【出典】防衛省 令和6年度予算の概要（2024-03-28）P.54, P.58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0000" y="5328000"/>
            <a:ext cx="3960000" cy="30600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公表DB収録（FY2024）: 81,267億円 / 40,771件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0" y="5652000"/>
            <a:ext cx="39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（procurement.db 集計値）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468000"/>
          </a:xfrm>
          <a:prstGeom prst="rect">
            <a:avLst/>
          </a:prstGeom>
          <a:solidFill>
            <a:srgbClr val="1F3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FY2024 カバレッジ分析 — 差し引き一覧と導出根拠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" y="612000"/>
            <a:ext cx="2880000" cy="360000"/>
          </a:xfrm>
          <a:prstGeom prst="rect">
            <a:avLst/>
          </a:prstGeom>
          <a:solidFill>
            <a:srgbClr val="1F3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項目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0" y="612000"/>
            <a:ext cx="1440000" cy="360000"/>
          </a:xfrm>
          <a:prstGeom prst="rect">
            <a:avLst/>
          </a:prstGeom>
          <a:solidFill>
            <a:srgbClr val="1F3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金額</a:t>
            </a:r>
          </a:p>
        </p:txBody>
      </p:sp>
      <p:sp>
        <p:nvSpPr>
          <p:cNvPr id="5" name="Rectangle 4"/>
          <p:cNvSpPr/>
          <p:nvPr/>
        </p:nvSpPr>
        <p:spPr>
          <a:xfrm>
            <a:off x="1512000" y="612000"/>
            <a:ext cx="2448000" cy="360000"/>
          </a:xfrm>
          <a:prstGeom prst="rect">
            <a:avLst/>
          </a:prstGeom>
          <a:solidFill>
            <a:srgbClr val="1F3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導出方法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2520000" y="612000"/>
            <a:ext cx="1512000" cy="360000"/>
          </a:xfrm>
          <a:prstGeom prst="rect">
            <a:avLst/>
          </a:prstGeom>
          <a:solidFill>
            <a:srgbClr val="1F3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ソース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" y="990000"/>
            <a:ext cx="2880000" cy="360000"/>
          </a:xfrm>
          <a:prstGeom prst="rect">
            <a:avLst/>
          </a:prstGeom>
          <a:solidFill>
            <a:srgbClr val="BDD7EE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1F3664"/>
                </a:solidFill>
                <a:latin typeface="Arial"/>
              </a:rPr>
              <a:t>物件費（契約ベース）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0000" y="990000"/>
            <a:ext cx="1440000" cy="360000"/>
          </a:xfrm>
          <a:prstGeom prst="rect">
            <a:avLst/>
          </a:prstGeom>
          <a:solidFill>
            <a:srgbClr val="BDD7EE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664"/>
                </a:solidFill>
                <a:latin typeface="Arial"/>
              </a:rPr>
              <a:t>93,625億円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2000" y="990000"/>
            <a:ext cx="2448000" cy="360000"/>
          </a:xfrm>
          <a:prstGeom prst="rect">
            <a:avLst/>
          </a:prstGeom>
          <a:solidFill>
            <a:srgbClr val="BDD7EE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予算書P.58より直接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0" y="990000"/>
            <a:ext cx="1512000" cy="360000"/>
          </a:xfrm>
          <a:prstGeom prst="rect">
            <a:avLst/>
          </a:prstGeom>
          <a:solidFill>
            <a:srgbClr val="BDD7EE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防衛省R6予算の概要
(2024-03-28) P.58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000" y="1368000"/>
            <a:ext cx="2880000" cy="468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△ 非契約系
（補助金・交付金・賃金・借料等）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0000" y="1368000"/>
            <a:ext cx="1440000" cy="468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▲ 約8,500億円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12000" y="1368000"/>
            <a:ext cx="2448000" cy="468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行政事業レビューDB
330事業×契約DB完全突合
15事業を非契約に分類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20000" y="1368000"/>
            <a:ext cx="1512000" cy="468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jigyou_review.db
+ _analyze_full_coverage.py
+ 費目別vendor_name検証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000" y="1854000"/>
            <a:ext cx="2880000" cy="36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△ 不用額（R6年度決算）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0000" y="1854000"/>
            <a:ext cx="1440000" cy="36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▲ 約1,200億円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2000" y="1854000"/>
            <a:ext cx="2448000" cy="36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R6年度決算 官房長官発表
主因:競争入札落差+人件費未充足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20000" y="1854000"/>
            <a:ext cx="1512000" cy="36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2025-11-18
朝日新聞/日刊ゲンダイ
（79,496億中 約1,100億）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000" y="2232000"/>
            <a:ext cx="2880000" cy="360000"/>
          </a:xfrm>
          <a:prstGeom prst="rect">
            <a:avLst/>
          </a:prstGeom>
          <a:solidFill>
            <a:srgbClr val="BDD7EE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1F3664"/>
                </a:solidFill>
                <a:latin typeface="Arial"/>
              </a:rPr>
              <a:t>＝ 実質契約対象母数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0000" y="2232000"/>
            <a:ext cx="1440000" cy="360000"/>
          </a:xfrm>
          <a:prstGeom prst="rect">
            <a:avLst/>
          </a:prstGeom>
          <a:solidFill>
            <a:srgbClr val="BDD7EE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664"/>
                </a:solidFill>
                <a:latin typeface="Arial"/>
              </a:rPr>
              <a:t>≈ 84,000億円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12000" y="2232000"/>
            <a:ext cx="2448000" cy="360000"/>
          </a:xfrm>
          <a:prstGeom prst="rect">
            <a:avLst/>
          </a:prstGeom>
          <a:solidFill>
            <a:srgbClr val="BDD7EE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93,625 − 8,500 − 1,200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20000" y="2232000"/>
            <a:ext cx="1512000" cy="360000"/>
          </a:xfrm>
          <a:prstGeom prst="rect">
            <a:avLst/>
          </a:prstGeom>
          <a:solidFill>
            <a:srgbClr val="BDD7EE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計算値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000" y="2610000"/>
            <a:ext cx="2880000" cy="360000"/>
          </a:xfrm>
          <a:prstGeom prst="rect">
            <a:avLst/>
          </a:prstGeom>
          <a:solidFill>
            <a:srgbClr val="E2EFD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378644"/>
                </a:solidFill>
                <a:latin typeface="Arial"/>
              </a:rPr>
              <a:t>公表DB収録額（FY2024）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0000" y="2610000"/>
            <a:ext cx="1440000" cy="360000"/>
          </a:xfrm>
          <a:prstGeom prst="rect">
            <a:avLst/>
          </a:prstGeom>
          <a:solidFill>
            <a:srgbClr val="E2EFD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78644"/>
                </a:solidFill>
                <a:latin typeface="Arial"/>
              </a:rPr>
              <a:t>81,267億円
40,771件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12000" y="2610000"/>
            <a:ext cx="2448000" cy="360000"/>
          </a:xfrm>
          <a:prstGeom prst="rect">
            <a:avLst/>
          </a:prstGeom>
          <a:solidFill>
            <a:srgbClr val="E2EFD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procurement.db
SELECT SUM(contract_amount)
WHERE fiscal_year=2024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20000" y="2610000"/>
            <a:ext cx="1512000" cy="360000"/>
          </a:xfrm>
          <a:prstGeom prst="rect">
            <a:avLst/>
          </a:prstGeom>
          <a:solidFill>
            <a:srgbClr val="E2EFD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data/db/procurement.db
（本プロジェクト収集）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000" y="2988000"/>
            <a:ext cx="2880000" cy="360000"/>
          </a:xfrm>
          <a:prstGeom prst="rect">
            <a:avLst/>
          </a:prstGeom>
          <a:solidFill>
            <a:srgbClr val="C6EFCE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378644"/>
                </a:solidFill>
                <a:latin typeface="Arial"/>
              </a:rPr>
              <a:t>カバレッジ率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60000" y="2988000"/>
            <a:ext cx="1440000" cy="360000"/>
          </a:xfrm>
          <a:prstGeom prst="rect">
            <a:avLst/>
          </a:prstGeom>
          <a:solidFill>
            <a:srgbClr val="C6EFCE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78644"/>
                </a:solidFill>
                <a:latin typeface="Arial"/>
              </a:rPr>
              <a:t>≈ 96.7%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12000" y="2988000"/>
            <a:ext cx="2448000" cy="360000"/>
          </a:xfrm>
          <a:prstGeom prst="rect">
            <a:avLst/>
          </a:prstGeom>
          <a:solidFill>
            <a:srgbClr val="C6EFCE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81,267 ÷ 84,000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20000" y="2988000"/>
            <a:ext cx="1512000" cy="360000"/>
          </a:xfrm>
          <a:prstGeom prst="rect">
            <a:avLst/>
          </a:prstGeom>
          <a:solidFill>
            <a:srgbClr val="C6EFCE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計算値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8000" y="3366000"/>
            <a:ext cx="2880000" cy="612000"/>
          </a:xfrm>
          <a:prstGeom prst="rect">
            <a:avLst/>
          </a:prstGeom>
          <a:solidFill>
            <a:srgbClr val="FFEB9C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C00000"/>
                </a:solidFill>
                <a:latin typeface="Arial"/>
              </a:rPr>
              <a:t>残ギャップ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0000" y="3366000"/>
            <a:ext cx="1440000" cy="612000"/>
          </a:xfrm>
          <a:prstGeom prst="rect">
            <a:avLst/>
          </a:prstGeom>
          <a:solidFill>
            <a:srgbClr val="FFEB9C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C00000"/>
                </a:solidFill>
                <a:latin typeface="Arial"/>
              </a:rPr>
              <a:t>≈ 2,700億円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12000" y="3366000"/>
            <a:ext cx="2448000" cy="612000"/>
          </a:xfrm>
          <a:prstGeom prst="rect">
            <a:avLst/>
          </a:prstGeom>
          <a:solidFill>
            <a:srgbClr val="FFEB9C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①秘密契約（財計第2017号除外）
②画像PDF未OCR（芦屋・三沢・防府南）
③gsdf_seibu（HTTP 403）
④収集漏れ不明分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20000" y="3366000"/>
            <a:ext cx="1512000" cy="612000"/>
          </a:xfrm>
          <a:prstGeom prst="rect">
            <a:avLst/>
          </a:prstGeom>
          <a:solidFill>
            <a:srgbClr val="FFEB9C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推定（定量根拠なし）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000" y="612000"/>
            <a:ext cx="6300000" cy="288000"/>
          </a:xfrm>
          <a:prstGeom prst="rect">
            <a:avLst/>
          </a:prstGeom>
          <a:solidFill>
            <a:srgbClr val="1F3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非契約系 内訳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000" y="936000"/>
            <a:ext cx="1800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F3664"/>
                </a:solidFill>
                <a:latin typeface="Arial"/>
              </a:rPr>
              <a:t>営舎費等（光熱水料）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96000" y="936000"/>
            <a:ext cx="792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ED7D31"/>
                </a:solidFill>
                <a:latin typeface="Arial"/>
              </a:rPr>
              <a:t>~1,624億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24000" y="936000"/>
            <a:ext cx="3636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595959"/>
                </a:solidFill>
                <a:latin typeface="Arial"/>
              </a:rPr>
              <a:t>月次少額・公表閾値以下（電力会社/水道局にvender確認）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000" y="1224000"/>
            <a:ext cx="1800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F3664"/>
                </a:solidFill>
                <a:latin typeface="Arial"/>
              </a:rPr>
              <a:t>基地対策経費等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96000" y="1224000"/>
            <a:ext cx="792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ED7D31"/>
                </a:solidFill>
                <a:latin typeface="Arial"/>
              </a:rPr>
              <a:t>~3,300億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24000" y="1224000"/>
            <a:ext cx="3636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595959"/>
                </a:solidFill>
                <a:latin typeface="Arial"/>
              </a:rPr>
              <a:t>補助金・交付金・賃金・借料（RS 15事業 分類）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000" y="1512000"/>
            <a:ext cx="1800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F3664"/>
                </a:solidFill>
                <a:latin typeface="Arial"/>
              </a:rPr>
              <a:t>借料（地主小額連続）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96000" y="1512000"/>
            <a:ext cx="792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ED7D31"/>
                </a:solidFill>
                <a:latin typeface="Arial"/>
              </a:rPr>
              <a:t>~1,345億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24000" y="1512000"/>
            <a:ext cx="3636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595959"/>
                </a:solidFill>
                <a:latin typeface="Arial"/>
              </a:rPr>
              <a:t>個人地主との小額連続契約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000" y="1800000"/>
            <a:ext cx="1800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F3664"/>
                </a:solidFill>
                <a:latin typeface="Arial"/>
              </a:rPr>
              <a:t>教育訓練費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96000" y="1800000"/>
            <a:ext cx="792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ED7D31"/>
                </a:solidFill>
                <a:latin typeface="Arial"/>
              </a:rPr>
              <a:t>  ~390億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24000" y="1800000"/>
            <a:ext cx="3636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595959"/>
                </a:solidFill>
                <a:latin typeface="Arial"/>
              </a:rPr>
              <a:t>研修参加費・謝金・小額委託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000" y="2088000"/>
            <a:ext cx="1800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F3664"/>
                </a:solidFill>
                <a:latin typeface="Arial"/>
              </a:rPr>
              <a:t>医療費等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96000" y="2088000"/>
            <a:ext cx="792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ED7D31"/>
                </a:solidFill>
                <a:latin typeface="Arial"/>
              </a:rPr>
              <a:t>  ~320億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24000" y="2088000"/>
            <a:ext cx="3636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595959"/>
                </a:solidFill>
                <a:latin typeface="Arial"/>
              </a:rPr>
              <a:t>診療報酬支払基金経由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000" y="2376000"/>
            <a:ext cx="1800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F3664"/>
                </a:solidFill>
                <a:latin typeface="Arial"/>
              </a:rPr>
              <a:t>補助金確定3件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96000" y="2376000"/>
            <a:ext cx="792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ED7D31"/>
                </a:solidFill>
                <a:latin typeface="Arial"/>
              </a:rPr>
              <a:t>  ~513億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24000" y="2376000"/>
            <a:ext cx="3636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595959"/>
                </a:solidFill>
                <a:latin typeface="Arial"/>
              </a:rPr>
              <a:t>装備移転400+サイバー71+GIGO42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60000" y="2664000"/>
            <a:ext cx="1800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F3664"/>
                </a:solidFill>
                <a:latin typeface="Arial"/>
              </a:rPr>
              <a:t>その他（一般物件費以外）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96000" y="2664000"/>
            <a:ext cx="792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ED7D31"/>
                </a:solidFill>
                <a:latin typeface="Arial"/>
              </a:rPr>
              <a:t>~1,000億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24000" y="2664000"/>
            <a:ext cx="3636000" cy="2700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595959"/>
                </a:solidFill>
                <a:latin typeface="Arial"/>
              </a:rPr>
              <a:t>新規後年度負担内の非契約分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0000" y="2951999"/>
            <a:ext cx="6300000" cy="27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合計 ≈ 8,500億円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